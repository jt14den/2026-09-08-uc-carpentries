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embeddedFontLst>
    <p:embeddedFont>
      <p:font typeface="Roboto"/>
      <p:regular r:id="rId10"/>
      <p:bold r:id="rId11"/>
      <p:italic r:id="rId12"/>
      <p:boldItalic r:id="rId13"/>
    </p:embeddedFont>
    <p:embeddedFont>
      <p:font typeface="Roboto Condensed"/>
      <p:regular r:id="rId14"/>
      <p:bold r:id="rId15"/>
      <p:italic r:id="rId16"/>
      <p:boldItalic r:id="rId17"/>
    </p:embeddedFont>
    <p:embeddedFont>
      <p:font typeface="Roboto Ligh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0" Type="http://schemas.openxmlformats.org/officeDocument/2006/relationships/font" Target="fonts/Roboto-regular.fntdata"/><Relationship Id="rId11" Type="http://schemas.openxmlformats.org/officeDocument/2006/relationships/font" Target="fonts/Roboto-bold.fntdata"/><Relationship Id="rId12" Type="http://schemas.openxmlformats.org/officeDocument/2006/relationships/font" Target="fonts/Roboto-italic.fntdata"/><Relationship Id="rId13" Type="http://schemas.openxmlformats.org/officeDocument/2006/relationships/font" Target="fonts/Roboto-boldItalic.fntdata"/><Relationship Id="rId14" Type="http://schemas.openxmlformats.org/officeDocument/2006/relationships/font" Target="fonts/RobotoCondensed-regular.fntdata"/><Relationship Id="rId15" Type="http://schemas.openxmlformats.org/officeDocument/2006/relationships/font" Target="fonts/RobotoCondensed-bold.fntdata"/><Relationship Id="rId16" Type="http://schemas.openxmlformats.org/officeDocument/2006/relationships/font" Target="fonts/RobotoCondensed-italic.fntdata"/><Relationship Id="rId17" Type="http://schemas.openxmlformats.org/officeDocument/2006/relationships/font" Target="fonts/RobotoCondensed-boldItalic.fntdata"/><Relationship Id="rId18" Type="http://schemas.openxmlformats.org/officeDocument/2006/relationships/font" Target="fonts/RobotoLight-regular.fntdata"/><Relationship Id="rId19" Type="http://schemas.openxmlformats.org/officeDocument/2006/relationships/font" Target="fonts/RobotoLight-bold.fntdata"/><Relationship Id="rId20" Type="http://schemas.openxmlformats.org/officeDocument/2006/relationships/font" Target="fonts/RobotoLight-italic.fntdata"/><Relationship Id="rId21" Type="http://schemas.openxmlformats.org/officeDocument/2006/relationships/font" Target="fonts/RobotoLigh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Picture 84" descr="uc-carpentries-he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6880" y="320040"/>
            <a:ext cx="8778240" cy="3869356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914400" y="4445427"/>
            <a:ext cx="103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spc="160">
                <a:solidFill>
                  <a:srgbClr val="2774AE"/>
                </a:solidFill>
                <a:latin typeface="Lato"/>
              </a:rPr>
              <a:t>UC CARPENTRIES WORKSHOP SERIES  ·  FALL 2026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400" y="4774611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D4E79"/>
                </a:solidFill>
                <a:latin typeface="Lato"/>
              </a:rPr>
              <a:t>Welcome!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4400" y="5542707"/>
            <a:ext cx="1036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02C"/>
                </a:solidFill>
                <a:latin typeface="Lato"/>
              </a:rPr>
              <a:t>We'll begin shortly. Grab the collaborative notes and settle in.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" y="5963331"/>
            <a:ext cx="103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D4E79"/>
                </a:solidFill>
                <a:latin typeface="Lato"/>
              </a:rPr>
              <a:t>www.tim-dennis.com/2026-09-08-uc-carpentries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267200" y="6292515"/>
            <a:ext cx="3657600" cy="3810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52550"/>
            <a:ext cx="5095875" cy="502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52550"/>
            <a:ext cx="5095875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143000" y="1790700"/>
            <a:ext cx="45505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774A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OUR PEDAGOGY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15125" y="1790700"/>
            <a:ext cx="45505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774A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MANAGING EXPECTATIONS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476375" y="2343150"/>
            <a:ext cx="4000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Live Coding: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We learn by doing together; mistakes are pedagogical opportunities.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476375" y="3562350"/>
            <a:ext cx="4000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Mental Models: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Building understanding by connecting new skills to your daily work.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476375" y="4781550"/>
            <a:ext cx="4000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No Overload: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We focus on a few key concepts to ensure mastery over speed.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048500" y="2340864"/>
            <a:ext cx="40005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Practical Competence: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Skills you can apply immediately in your library role.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048500" y="3639312"/>
            <a:ext cx="4000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Collaborative Pace: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We move as a group; your questions help set the speed.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048500" y="4846320"/>
            <a:ext cx="4000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Mistakes are Expected: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Coding is a process of troubleshooting and persistence.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43000" y="234315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D100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143000" y="356235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D100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143000" y="478155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D100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715125" y="2340864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D100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715125" y="3639312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D100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715125" y="4846320"/>
            <a:ext cx="123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D100"/>
                </a:solidFill>
                <a:latin typeface="Roboto"/>
                <a:ea typeface="Roboto"/>
                <a:cs typeface="Roboto"/>
                <a:sym typeface="Roboto"/>
              </a:rPr>
              <a:t>▪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000125" y="571500"/>
            <a:ext cx="111918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2774A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HOW WE LEARN TOGETHER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762000" y="571500"/>
            <a:ext cx="95250" cy="4953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505450"/>
            <a:ext cx="53340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62000" y="1352550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774A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ZOOM ETIQUETTE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62000" y="3448050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774A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COMMUNICATION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62000" y="19050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Raise Hand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for verbal questions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62000" y="23622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Chat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for technical issues &amp; help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28194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Non-verbal icons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(Yes/No/Speed)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62000" y="40005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Post questions in </a:t>
            </a: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Etherpad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shared notes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62000" y="443865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Helpers monitor chat for immediate aid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62000" y="48768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Typing </a:t>
            </a:r>
            <a:r>
              <a:rPr b="1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"I'm stuck"</a:t>
            </a:r>
            <a:r>
              <a:rPr b="0" i="0" lang="en-US" sz="1800" u="none" cap="none" strike="noStrike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is a complete sentence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19431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24003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85750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1000125" y="571500"/>
            <a:ext cx="111918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2774A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ZOOM TOOLS &amp; SUPPORT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762000" y="571500"/>
            <a:ext cx="95250" cy="4953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5" title="Screenshot 2026-05-05 at 1.20.59 P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40880" y="1920240"/>
            <a:ext cx="4114800" cy="3916578"/>
          </a:xfrm>
          <a:prstGeom prst="rect">
            <a:avLst/>
          </a:prstGeom>
          <a:noFill/>
          <a:ln w="12700">
            <a:solidFill>
              <a:srgbClr val="CBD5E0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