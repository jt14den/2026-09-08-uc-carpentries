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6858000" cx="12192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Condensed"/>
      <p:regular r:id="rId14"/>
      <p:bold r:id="rId15"/>
      <p:italic r:id="rId16"/>
      <p:boldItalic r:id="rId17"/>
    </p:embeddedFont>
    <p:embeddedFont>
      <p:font typeface="Roboto Light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0" Type="http://schemas.openxmlformats.org/officeDocument/2006/relationships/font" Target="fonts/Roboto-regular.fntdata"/><Relationship Id="rId11" Type="http://schemas.openxmlformats.org/officeDocument/2006/relationships/font" Target="fonts/Roboto-bold.fntdata"/><Relationship Id="rId12" Type="http://schemas.openxmlformats.org/officeDocument/2006/relationships/font" Target="fonts/Roboto-italic.fntdata"/><Relationship Id="rId13" Type="http://schemas.openxmlformats.org/officeDocument/2006/relationships/font" Target="fonts/Roboto-boldItalic.fntdata"/><Relationship Id="rId14" Type="http://schemas.openxmlformats.org/officeDocument/2006/relationships/font" Target="fonts/RobotoCondensed-regular.fntdata"/><Relationship Id="rId15" Type="http://schemas.openxmlformats.org/officeDocument/2006/relationships/font" Target="fonts/RobotoCondensed-bold.fntdata"/><Relationship Id="rId16" Type="http://schemas.openxmlformats.org/officeDocument/2006/relationships/font" Target="fonts/RobotoCondensed-italic.fntdata"/><Relationship Id="rId17" Type="http://schemas.openxmlformats.org/officeDocument/2006/relationships/font" Target="fonts/RobotoCondensed-boldItalic.fntdata"/><Relationship Id="rId18" Type="http://schemas.openxmlformats.org/officeDocument/2006/relationships/font" Target="fonts/RobotoLight-regular.fntdata"/><Relationship Id="rId19" Type="http://schemas.openxmlformats.org/officeDocument/2006/relationships/font" Target="fonts/RobotoLight-bold.fntdata"/><Relationship Id="rId20" Type="http://schemas.openxmlformats.org/officeDocument/2006/relationships/font" Target="fonts/RobotoLight-italic.fntdata"/><Relationship Id="rId21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8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Picture 84" descr="uc-carpentries-he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800" y="2424364"/>
            <a:ext cx="10058400" cy="4433637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48640" y="2926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60">
                <a:solidFill>
                  <a:srgbClr val="2774AE"/>
                </a:solidFill>
                <a:latin typeface="Lato"/>
              </a:rPr>
              <a:t>UC CARPENTRIES WORKSHOP SERIES  ·  FALL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603504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D4E79"/>
                </a:solidFill>
                <a:latin typeface="Lato"/>
              </a:rPr>
              <a:t>Welcome!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16733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02C"/>
                </a:solidFill>
                <a:latin typeface="Lato"/>
              </a:rPr>
              <a:t>We'll begin shortly. Grab the collaborative notes and settle in.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" y="213055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79"/>
                </a:solidFill>
                <a:latin typeface="Lato"/>
              </a:rPr>
              <a:t>www.tim-dennis.com/2026-09-08-uc-carpentries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2487168"/>
            <a:ext cx="3703320" cy="40640"/>
          </a:xfrm>
          <a:prstGeom prst="rect">
            <a:avLst/>
          </a:prstGeom>
          <a:solidFill>
            <a:srgbClr val="FFD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6" name="Google Shape;9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352550"/>
            <a:ext cx="5095875" cy="5029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352550"/>
            <a:ext cx="5095875" cy="50292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1143000" y="1790700"/>
            <a:ext cx="4550568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774AE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PEDAGOGY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715125" y="1790700"/>
            <a:ext cx="4550568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774AE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MANAGING EXPECTATIONS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476375" y="2343150"/>
            <a:ext cx="40005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Live Coding: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We learn by doing together; mistakes are pedagogical opportunities.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476375" y="3562350"/>
            <a:ext cx="40005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Mental Models: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Building understanding by connecting new skills to your daily work.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1476375" y="4781550"/>
            <a:ext cx="40005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No Overload: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We focus on a few key concepts to ensure mastery over speed.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7048500" y="2340864"/>
            <a:ext cx="40005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Practical Competence: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Skills you can apply immediately in your library role.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048500" y="3639312"/>
            <a:ext cx="40005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Collaborative Pace: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We move as a group; your questions help set the speed.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7048500" y="4846320"/>
            <a:ext cx="40005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Mistakes are Expected: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Coding is a process of troubleshooting and persistence.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1143000" y="2343150"/>
            <a:ext cx="1238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7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FD100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1143000" y="3562350"/>
            <a:ext cx="1238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7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FD100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143000" y="4781550"/>
            <a:ext cx="1238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7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FD100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6715125" y="2340864"/>
            <a:ext cx="1238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7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FD100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6715125" y="3639312"/>
            <a:ext cx="1238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7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FD100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6715125" y="4846320"/>
            <a:ext cx="1238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7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FD100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1000125" y="571500"/>
            <a:ext cx="1119187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2774AE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HOW WE LEARN TOGETHER</a:t>
            </a: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762000" y="571500"/>
            <a:ext cx="95250" cy="49530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9" name="Google Shape;11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5505450"/>
            <a:ext cx="5334000" cy="1047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762000" y="1352550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774AE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ZOOM ETIQUETTE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762000" y="3448050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774AE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COMMUNICATION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762000" y="1905000"/>
            <a:ext cx="533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714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Raise Hand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for verbal questions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762000" y="2362200"/>
            <a:ext cx="533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714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Chat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for technical issues &amp; help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762000" y="2819400"/>
            <a:ext cx="533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429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Non-verbal icons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(Yes/No/Speed)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762000" y="4000500"/>
            <a:ext cx="533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Post questions in </a:t>
            </a: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Etherpad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shared notes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762000" y="4438650"/>
            <a:ext cx="533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Helpers monitor chat for immediate aid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762000" y="4876800"/>
            <a:ext cx="533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Typing </a:t>
            </a:r>
            <a:r>
              <a:rPr b="1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"I'm stuck"</a:t>
            </a:r>
            <a:r>
              <a:rPr b="0" i="0" lang="en-US" sz="1800" u="none" cap="none" strike="noStrike">
                <a:solidFill>
                  <a:srgbClr val="1A202C"/>
                </a:solidFill>
                <a:latin typeface="Roboto"/>
                <a:ea typeface="Roboto"/>
                <a:cs typeface="Roboto"/>
                <a:sym typeface="Roboto"/>
              </a:rPr>
              <a:t> is a complete sentence</a:t>
            </a:r>
            <a:endParaRPr/>
          </a:p>
        </p:txBody>
      </p:sp>
      <p:pic>
        <p:nvPicPr>
          <p:cNvPr descr="image.png" id="130" name="Google Shape;130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194310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2000" y="240030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2857500"/>
            <a:ext cx="20002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5"/>
          <p:cNvSpPr txBox="1"/>
          <p:nvPr/>
        </p:nvSpPr>
        <p:spPr>
          <a:xfrm>
            <a:off x="1000125" y="571500"/>
            <a:ext cx="1119187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2774AE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ZOOM TOOLS &amp; SUPPORT</a:t>
            </a:r>
            <a:endParaRPr/>
          </a:p>
        </p:txBody>
      </p:sp>
      <p:sp>
        <p:nvSpPr>
          <p:cNvPr id="134" name="Google Shape;134;p15"/>
          <p:cNvSpPr/>
          <p:nvPr/>
        </p:nvSpPr>
        <p:spPr>
          <a:xfrm>
            <a:off x="762000" y="571500"/>
            <a:ext cx="95250" cy="49530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15" title="Screenshot 2026-05-05 at 1.20.59 PM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40880" y="1920240"/>
            <a:ext cx="4114800" cy="3916578"/>
          </a:xfrm>
          <a:prstGeom prst="rect">
            <a:avLst/>
          </a:prstGeom>
          <a:noFill/>
          <a:ln w="12700">
            <a:solidFill>
              <a:srgbClr val="CBD5E0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