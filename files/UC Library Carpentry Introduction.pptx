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Roboto"/>
      <p:regular r:id="rId10"/>
      <p:bold r:id="rId11"/>
      <p:italic r:id="rId12"/>
      <p:boldItalic r:id="rId13"/>
    </p:embeddedFont>
    <p:embeddedFont>
      <p:font typeface="Roboto Condensed"/>
      <p:regular r:id="rId14"/>
      <p:bold r:id="rId15"/>
      <p:italic r:id="rId16"/>
      <p:boldItalic r:id="rId17"/>
    </p:embeddedFont>
    <p:embeddedFont>
      <p:font typeface="Roboto L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Light-italic.fntdata"/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21" Type="http://schemas.openxmlformats.org/officeDocument/2006/relationships/font" Target="fonts/RobotoLight-boldItalic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Condensed-bold.fntdata"/><Relationship Id="rId14" Type="http://schemas.openxmlformats.org/officeDocument/2006/relationships/font" Target="fonts/RobotoCondensed-regular.fntdata"/><Relationship Id="rId17" Type="http://schemas.openxmlformats.org/officeDocument/2006/relationships/font" Target="fonts/RobotoCondensed-boldItalic.fntdata"/><Relationship Id="rId16" Type="http://schemas.openxmlformats.org/officeDocument/2006/relationships/font" Target="fonts/RobotoCondensed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Light-bold.fntdata"/><Relationship Id="rId6" Type="http://schemas.openxmlformats.org/officeDocument/2006/relationships/slide" Target="slides/slide1.xml"/><Relationship Id="rId18" Type="http://schemas.openxmlformats.org/officeDocument/2006/relationships/font" Target="fonts/Roboto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5468242"/>
            <a:ext cx="64389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7429500" y="-952500"/>
            <a:ext cx="5715000" cy="5715000"/>
          </a:xfrm>
          <a:prstGeom prst="roundRect">
            <a:avLst>
              <a:gd fmla="val 50000" name="adj"/>
            </a:avLst>
          </a:prstGeom>
          <a:solidFill>
            <a:srgbClr val="2774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818257"/>
            <a:ext cx="971550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952500" y="1894582"/>
            <a:ext cx="600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774AE"/>
                </a:solidFill>
                <a:latin typeface="Roboto"/>
                <a:ea typeface="Roboto"/>
                <a:cs typeface="Roboto"/>
                <a:sym typeface="Roboto"/>
              </a:rPr>
              <a:t>DATA + SOFTWARE SKILLS FOR LIBRARIANS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52500" y="2542282"/>
            <a:ext cx="5980747" cy="1802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50" u="none" cap="none" strike="noStrike">
                <a:solidFill>
                  <a:srgbClr val="2774A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Library Carpentry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450" u="none" cap="none" strike="noStrike">
                <a:solidFill>
                  <a:srgbClr val="2774A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Workshop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52500" y="4630042"/>
            <a:ext cx="57245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202C"/>
                </a:solidFill>
                <a:latin typeface="Roboto Light"/>
                <a:ea typeface="Roboto Light"/>
                <a:cs typeface="Roboto Light"/>
                <a:sym typeface="Roboto Light"/>
              </a:rPr>
              <a:t>May 11–20, 2026 | 9:00 am – 12:00 pm PT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114550" y="865875"/>
            <a:ext cx="3389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2774AE"/>
                </a:solidFill>
                <a:latin typeface="Roboto"/>
                <a:ea typeface="Roboto"/>
                <a:cs typeface="Roboto"/>
                <a:sym typeface="Roboto"/>
              </a:rPr>
              <a:t>Carpentries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52550"/>
            <a:ext cx="5095875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52550"/>
            <a:ext cx="5095875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143000" y="1790700"/>
            <a:ext cx="45505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774A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PEDAGOGY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15125" y="1790700"/>
            <a:ext cx="45505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774A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MANAGING EXPECTATIONS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476375" y="2343150"/>
            <a:ext cx="4000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Live Coding: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We learn by doing together; mistakes are pedagogical opportunities.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476375" y="3562350"/>
            <a:ext cx="4000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Mental Models: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Building understanding by connecting new skills to your daily work.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476375" y="4781550"/>
            <a:ext cx="4000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No Overload: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We focus on a few key concepts to ensure mastery over speed.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048500" y="2343150"/>
            <a:ext cx="400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Practical Competence: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Skills you can apply immediately in your library role.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048500" y="3219450"/>
            <a:ext cx="4000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Collaborative Pace: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We move as a group; your questions help set the speed.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048500" y="4438650"/>
            <a:ext cx="4000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Mistakes are Expected: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Coding is a process of troubleshooting and persistence.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43000" y="234315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D100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143000" y="356235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D100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143000" y="478155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D100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715125" y="234315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D100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715125" y="321945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D100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715125" y="443865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D100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000125" y="571500"/>
            <a:ext cx="111918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2774A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 WE LEARN TOGETHER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762000" y="571500"/>
            <a:ext cx="95250" cy="4953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1352550"/>
            <a:ext cx="47625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505450"/>
            <a:ext cx="53340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62000" y="1352550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774A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ZOOM ETIQUETTE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62000" y="3448050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774A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COMMUNICATION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19050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Raise Hand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for verbal questions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62000" y="23622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Chat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for technical issues &amp; help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28194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Non-verbal icons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(Yes/No/Speed)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62000" y="40005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Post questions in </a:t>
            </a: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Etherpad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shared notes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62000" y="44386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Helpers monitor chat for immediate aid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62000" y="48768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Typing </a:t>
            </a: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"I'm stuck"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is a complete sentence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1943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24003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85750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1000125" y="571500"/>
            <a:ext cx="111918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2774A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ZOOM TOOLS &amp; SUPPORT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762000" y="571500"/>
            <a:ext cx="95250" cy="4953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5" title="Screenshot 2026-05-05 at 1.20.59 P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41725" y="1841800"/>
            <a:ext cx="4614052" cy="317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15"/>
          <p:cNvCxnSpPr/>
          <p:nvPr/>
        </p:nvCxnSpPr>
        <p:spPr>
          <a:xfrm>
            <a:off x="8179775" y="4539500"/>
            <a:ext cx="931800" cy="0"/>
          </a:xfrm>
          <a:prstGeom prst="straightConnector1">
            <a:avLst/>
          </a:prstGeom>
          <a:noFill/>
          <a:ln cap="flat" cmpd="sng" w="38100">
            <a:solidFill>
              <a:srgbClr val="4F46E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96000"/>
            <a:ext cx="10668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/>
          <p:nvPr/>
        </p:nvSpPr>
        <p:spPr>
          <a:xfrm>
            <a:off x="8858250" y="952500"/>
            <a:ext cx="2857500" cy="2857500"/>
          </a:xfrm>
          <a:prstGeom prst="roundRect">
            <a:avLst>
              <a:gd fmla="val 50000" name="adj"/>
            </a:avLst>
          </a:prstGeom>
          <a:solidFill>
            <a:srgbClr val="FFD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57150" y="5756675"/>
            <a:ext cx="1066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"We focus on creating a supportive environment where everyone feels comfortable learning."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62000" y="6296025"/>
            <a:ext cx="314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We follow The Carpentries Code of Conduct.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372475" y="6296025"/>
            <a:ext cx="30575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If something feels off, message us privately.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62000" y="1352550"/>
            <a:ext cx="5200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774A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 CONSTRUCTIVE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477000" y="1352550"/>
            <a:ext cx="52008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774A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 IS NOT OK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190625" y="1905000"/>
            <a:ext cx="45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Respect others’ time and learning pace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190625" y="2390775"/>
            <a:ext cx="45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Let instructors guide the session flow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190625" y="2876550"/>
            <a:ext cx="45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Maintain inclusive and welcoming language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905625" y="1905000"/>
            <a:ext cx="45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Repeatedly interrupting or redirecting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905625" y="2390775"/>
            <a:ext cx="45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Dominating the discussion or focus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905625" y="2876550"/>
            <a:ext cx="45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Dismissing others or the core material</a:t>
            </a:r>
            <a:endParaRPr/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9526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4384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9241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0" y="19526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0" y="24384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0" y="29241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1000125" y="571500"/>
            <a:ext cx="111918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2774A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WORKSHOP NORMS</a:t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762000" y="571500"/>
            <a:ext cx="95250" cy="4953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3" name="Google Shape;16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40995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1190625" y="3362325"/>
            <a:ext cx="452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Show courtesy and respect towards community members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